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70" r:id="rId3"/>
    <p:sldId id="257" r:id="rId4"/>
    <p:sldId id="258" r:id="rId5"/>
    <p:sldId id="259" r:id="rId6"/>
    <p:sldId id="291" r:id="rId7"/>
    <p:sldId id="269" r:id="rId8"/>
    <p:sldId id="261" r:id="rId9"/>
    <p:sldId id="262" r:id="rId10"/>
    <p:sldId id="265" r:id="rId11"/>
    <p:sldId id="271" r:id="rId12"/>
    <p:sldId id="272" r:id="rId13"/>
    <p:sldId id="273" r:id="rId14"/>
    <p:sldId id="274" r:id="rId15"/>
    <p:sldId id="275" r:id="rId16"/>
    <p:sldId id="276" r:id="rId17"/>
    <p:sldId id="287" r:id="rId18"/>
    <p:sldId id="277" r:id="rId19"/>
    <p:sldId id="286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8" r:id="rId29"/>
    <p:sldId id="289" r:id="rId30"/>
    <p:sldId id="290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122F1E-1790-4BE7-9E85-9B388FBB6D43}">
          <p14:sldIdLst>
            <p14:sldId id="256"/>
            <p14:sldId id="270"/>
            <p14:sldId id="257"/>
            <p14:sldId id="258"/>
            <p14:sldId id="259"/>
            <p14:sldId id="291"/>
            <p14:sldId id="269"/>
            <p14:sldId id="261"/>
            <p14:sldId id="262"/>
            <p14:sldId id="265"/>
          </p14:sldIdLst>
        </p14:section>
        <p14:section name="Visual Studio Code Documentation" id="{2CA6236D-D6EF-4051-B219-6C746EA1B49F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Airflow Documentation" id="{CD292905-7E0C-4AB4-9644-0386D45A7CAD}">
          <p14:sldIdLst>
            <p14:sldId id="287"/>
            <p14:sldId id="277"/>
            <p14:sldId id="286"/>
          </p14:sldIdLst>
        </p14:section>
        <p14:section name="Postgres Documentation" id="{E3C8BF7B-8428-45A9-9AED-9EA305EDD01D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Metabase Documentation" id="{84E2FD48-46F7-40A1-AF68-C4AA9CB4DCA6}">
          <p14:sldIdLst>
            <p14:sldId id="285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29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19A94-27D3-4D56-1415-49E0D0BD6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E95B4-F721-ECAB-7E98-C681135BF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7FCEC-EF34-8A38-7E4D-4112175AC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65F26-D5C3-7D14-9320-AFD1C7F79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99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36DE-0CFE-7228-B4D1-1AB9926F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204AB-17B6-52F4-EC8C-F4876B4DA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9070B-791B-72BE-0C65-9FA8BFF5D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63945-6A15-13C4-76D7-2C361DECA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08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1E4DA-8F20-B6B2-33ED-23560B866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D4F12-DF20-D26D-74C2-CFB18F6DB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C2D85-30A9-CBCB-3C1C-2FC2D04B4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41C69-9BED-F867-7DD8-B9C488EAA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46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0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Real-Time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018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Pipeline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93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Final Project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504661"/>
            <a:ext cx="1920240" cy="274320"/>
          </a:xfrm>
          <a:prstGeom prst="rect">
            <a:avLst/>
          </a:prstGeom>
          <a:solidFill>
            <a:srgbClr val="1A6B9E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04661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51760" y="2504661"/>
            <a:ext cx="1920240" cy="274320"/>
          </a:xfrm>
          <a:prstGeom prst="rect">
            <a:avLst/>
          </a:prstGeom>
          <a:solidFill>
            <a:srgbClr val="1A6B9E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504661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2866048"/>
            <a:ext cx="1920240" cy="274320"/>
          </a:xfrm>
          <a:prstGeom prst="rect">
            <a:avLst/>
          </a:prstGeom>
          <a:solidFill>
            <a:srgbClr val="1A6B9E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66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51760" y="2866048"/>
            <a:ext cx="1920240" cy="274320"/>
          </a:xfrm>
          <a:prstGeom prst="rect">
            <a:avLst/>
          </a:prstGeom>
          <a:solidFill>
            <a:srgbClr val="1A6B9E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866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2504661"/>
            <a:ext cx="4160520" cy="635707"/>
          </a:xfrm>
          <a:prstGeom prst="rect">
            <a:avLst/>
          </a:prstGeom>
          <a:solidFill>
            <a:srgbClr val="1A6B9E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89116"/>
            <a:ext cx="4160520" cy="6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3396400"/>
            <a:ext cx="19202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442120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40.000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" y="3862744"/>
            <a:ext cx="19202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7480" y="3396400"/>
            <a:ext cx="19202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97480" y="3442120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9.954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697480" y="3862744"/>
            <a:ext cx="19202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396400"/>
            <a:ext cx="19202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3442120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846320" y="3862744"/>
            <a:ext cx="19202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95160" y="3396400"/>
            <a:ext cx="19202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95160" y="3442120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50.36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995160" y="3862744"/>
            <a:ext cx="19202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Final Project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A568E-D3E9-F4B8-C226-7928AE1E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909574-C9BD-0254-6779-FAA2829B5953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074044-A0DE-F340-F76D-099A02828F8A}"/>
              </a:ext>
            </a:extLst>
          </p:cNvPr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Data Engineering</a:t>
            </a:r>
            <a:endParaRPr lang="en-US" sz="2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1560C4-DE0B-58F0-34E2-52FEA3CCEF37}"/>
              </a:ext>
            </a:extLst>
          </p:cNvPr>
          <p:cNvSpPr txBox="1"/>
          <p:nvPr/>
        </p:nvSpPr>
        <p:spPr>
          <a:xfrm>
            <a:off x="2358059" y="1790354"/>
            <a:ext cx="4576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By Ary Kurniawan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99A4A93-196B-7EA1-D4E4-F3DBFD1E1687}"/>
              </a:ext>
            </a:extLst>
          </p:cNvPr>
          <p:cNvSpPr/>
          <p:nvPr/>
        </p:nvSpPr>
        <p:spPr>
          <a:xfrm>
            <a:off x="1371600" y="4160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891B2"/>
                </a:solidFill>
              </a:rPr>
              <a:t>Pipeline mampu mengolah 10.000 transaksi → actionable insights dalam &lt; 10 menit, otomatis 24/7 ✓</a:t>
            </a:r>
            <a:endParaRPr lang="en-US" sz="11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C109CAE2-FD57-73DD-988A-8D6ABE968544}"/>
              </a:ext>
            </a:extLst>
          </p:cNvPr>
          <p:cNvSpPr/>
          <p:nvPr/>
        </p:nvSpPr>
        <p:spPr>
          <a:xfrm>
            <a:off x="457200" y="225392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/>
              <a:t>·  Airflow  ·  </a:t>
            </a:r>
            <a:r>
              <a:rPr lang="en-US" dirty="0" err="1"/>
              <a:t>dbt</a:t>
            </a:r>
            <a:r>
              <a:rPr lang="en-US" dirty="0"/>
              <a:t>  ·  PostgreSQL  ·  </a:t>
            </a:r>
            <a:r>
              <a:rPr lang="en-US" dirty="0" err="1"/>
              <a:t>Metabase</a:t>
            </a:r>
            <a:r>
              <a:rPr lang="en-US" dirty="0"/>
              <a:t>  ·  Docker</a:t>
            </a:r>
          </a:p>
        </p:txBody>
      </p:sp>
    </p:spTree>
    <p:extLst>
      <p:ext uri="{BB962C8B-B14F-4D97-AF65-F5344CB8AC3E}">
        <p14:creationId xmlns:p14="http://schemas.microsoft.com/office/powerpoint/2010/main" val="3685598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Business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solidFill>
            <a:srgbClr val="E0F2FE"/>
          </a:solidFill>
          <a:ln w="25400">
            <a:solidFill>
              <a:srgbClr val="1A6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658368"/>
            <a:ext cx="8229600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Bagaimana membangun pipeline data end-to-end yang mampu mengolah transaksi e-commerce secara batch processing,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transformasi terdokumentasi, orkestrasi otomatis, dan visualisasi real-time untuk mendukung keputusan bisnis?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81328"/>
            <a:ext cx="502920" cy="274320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Analytics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CC provider, market share, AOV, price tier distribution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481328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481328"/>
            <a:ext cx="502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813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1801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1031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VIP/Regular/Occasional/One-time, CLV, histori perubahan (SCD2)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481328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481328"/>
            <a:ext cx="50292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4813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80760" y="1801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21031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rule-based flags: high value, expired CC, abnormal CVV, high-risk customer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17320" y="283464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17320" y="2834640"/>
            <a:ext cx="5029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2834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6304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345643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bahasa, AM/PM, OS, profesi vs nilai transaksi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51960" y="283464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2834640"/>
            <a:ext cx="502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2834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97680" y="345643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harian 01:00 WIB, DQ monitoring per jam, SLA &lt; 15 menit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Batch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" y="566928"/>
            <a:ext cx="77724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56692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" y="1115568"/>
            <a:ext cx="777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11556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" y="1664208"/>
            <a:ext cx="777240" cy="43891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166420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" y="2212848"/>
            <a:ext cx="777240" cy="43891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221284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" y="2761488"/>
            <a:ext cx="777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" y="27614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" y="3310128"/>
            <a:ext cx="77724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" y="331012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05840" y="566928"/>
            <a:ext cx="146304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603504"/>
            <a:ext cx="1463040" cy="24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808330"/>
            <a:ext cx="1463040" cy="175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rows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87168" y="786384"/>
            <a:ext cx="34747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2834640" y="566928"/>
            <a:ext cx="1645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834640" y="603504"/>
            <a:ext cx="1645920" cy="24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batch_ingest.py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808330"/>
            <a:ext cx="1645920" cy="175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psycopg2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98848" y="786384"/>
            <a:ext cx="34747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4864608" y="557784"/>
            <a:ext cx="1828800" cy="1508760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694944"/>
            <a:ext cx="1828800" cy="553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1211580"/>
            <a:ext cx="18288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staging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marts → dw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93408" y="1161288"/>
            <a:ext cx="34747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4846320" y="2212848"/>
            <a:ext cx="18288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2249424"/>
            <a:ext cx="1828800" cy="24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2454250"/>
            <a:ext cx="1828800" cy="175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models, 87 tests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93408" y="2432304"/>
            <a:ext cx="34747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7040880" y="566928"/>
            <a:ext cx="1737360" cy="43891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040880" y="603504"/>
            <a:ext cx="1737360" cy="24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40880" y="808330"/>
            <a:ext cx="1737360" cy="175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daily 01:00 WIB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09560" y="1005840"/>
            <a:ext cx="0" cy="3200400"/>
          </a:xfrm>
          <a:prstGeom prst="line">
            <a:avLst/>
          </a:prstGeom>
          <a:noFill/>
          <a:ln w="19050">
            <a:solidFill>
              <a:srgbClr val="0A234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846320" y="2761488"/>
            <a:ext cx="18288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46320" y="2798064"/>
            <a:ext cx="1828800" cy="24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Layer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46320" y="3002890"/>
            <a:ext cx="1828800" cy="175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tables (dbt)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693408" y="2980944"/>
            <a:ext cx="34747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7040880" y="2761488"/>
            <a:ext cx="173736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040880" y="2798064"/>
            <a:ext cx="1737360" cy="24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040880" y="3002890"/>
            <a:ext cx="1737360" cy="175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panels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46320" y="3310128"/>
            <a:ext cx="1828800" cy="43891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46320" y="3346704"/>
            <a:ext cx="1828800" cy="24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Layer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846320" y="3551530"/>
            <a:ext cx="1828800" cy="175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+ SCD2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693408" y="3529584"/>
            <a:ext cx="34747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7040880" y="3310128"/>
            <a:ext cx="1737360" cy="43891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040880" y="3346704"/>
            <a:ext cx="1737360" cy="24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040880" y="3551530"/>
            <a:ext cx="1737360" cy="175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+ Dim tables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1440" y="3931920"/>
            <a:ext cx="868680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8B9C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5840" y="3977640"/>
            <a:ext cx="7589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MONITORING  |  Airflow DQ DAG (setiap jam)  ·  monitoring.pipeline_runs  ·  monitoring.dq_results  ·  </a:t>
            </a:r>
            <a:r>
              <a:rPr lang="en-US" sz="1000" dirty="0" err="1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r>
              <a:rPr lang="en-US" sz="10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 History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Profiling — Ecommerce_Purchases.csv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96696"/>
            <a:ext cx="178308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4241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490472"/>
            <a:ext cx="17830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996696"/>
            <a:ext cx="1783080" cy="822960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04241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331720" y="1490472"/>
            <a:ext cx="17830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56816"/>
            <a:ext cx="17830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00253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9,954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2450592"/>
            <a:ext cx="17830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1956816"/>
            <a:ext cx="178308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200253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331720" y="2450592"/>
            <a:ext cx="17830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178308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96265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9,526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3410712"/>
            <a:ext cx="17830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CC (95.3%)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31720" y="2916936"/>
            <a:ext cx="178308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331720" y="296265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1,689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331720" y="3410712"/>
            <a:ext cx="17830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CVV Abnormal (16.9%)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594360"/>
            <a:ext cx="466344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594360"/>
            <a:ext cx="12344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594360"/>
            <a:ext cx="1143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594360"/>
            <a:ext cx="2194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886968"/>
            <a:ext cx="4663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896112"/>
            <a:ext cx="12344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96128" y="896112"/>
            <a:ext cx="114300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84848" y="896112"/>
            <a:ext cx="21488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 customer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97680" y="1234440"/>
            <a:ext cx="4663440" cy="329184"/>
          </a:xfrm>
          <a:prstGeom prst="rect">
            <a:avLst/>
          </a:prstGeom>
          <a:solidFill>
            <a:srgbClr val="E0F2F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15968" y="1243584"/>
            <a:ext cx="12344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or PM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96128" y="1243584"/>
            <a:ext cx="114300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84848" y="1243584"/>
            <a:ext cx="21488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AM=4932 | PM=5068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97680" y="1581912"/>
            <a:ext cx="4663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5968" y="1591056"/>
            <a:ext cx="12344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Info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96128" y="1591056"/>
            <a:ext cx="114300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84848" y="1591056"/>
            <a:ext cx="21488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79.2% | Opera 20.8%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97680" y="1929384"/>
            <a:ext cx="4663440" cy="329184"/>
          </a:xfrm>
          <a:prstGeom prst="rect">
            <a:avLst/>
          </a:prstGeom>
          <a:solidFill>
            <a:srgbClr val="E0F2F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15968" y="1938528"/>
            <a:ext cx="12344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Provider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96128" y="1938528"/>
            <a:ext cx="114300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84848" y="1938528"/>
            <a:ext cx="21488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providers unik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97680" y="2276856"/>
            <a:ext cx="4663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15968" y="2286000"/>
            <a:ext cx="12344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Exp Date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96128" y="2286000"/>
            <a:ext cx="114300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84848" y="2286000"/>
            <a:ext cx="21488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MM/YY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297680" y="2624328"/>
            <a:ext cx="4663440" cy="329184"/>
          </a:xfrm>
          <a:prstGeom prst="rect">
            <a:avLst/>
          </a:prstGeom>
          <a:solidFill>
            <a:srgbClr val="E0F2F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15968" y="2633472"/>
            <a:ext cx="12344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Security Code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596128" y="2633472"/>
            <a:ext cx="114300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784848" y="2633472"/>
            <a:ext cx="21488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CVV: 3-digit normal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297680" y="2971800"/>
            <a:ext cx="4663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15968" y="2980944"/>
            <a:ext cx="12344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596128" y="2980944"/>
            <a:ext cx="114300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784848" y="2980944"/>
            <a:ext cx="21488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9,954 unique emails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297680" y="3319272"/>
            <a:ext cx="4663440" cy="329184"/>
          </a:xfrm>
          <a:prstGeom prst="rect">
            <a:avLst/>
          </a:prstGeom>
          <a:solidFill>
            <a:srgbClr val="E0F2F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15968" y="3328416"/>
            <a:ext cx="12344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596128" y="3328416"/>
            <a:ext cx="114300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784848" y="3328416"/>
            <a:ext cx="21488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bahasa (de,ru,el,pt,en,fr,es,it,zh)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297680" y="3666744"/>
            <a:ext cx="4663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15968" y="3675888"/>
            <a:ext cx="12344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Price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596128" y="3675888"/>
            <a:ext cx="114300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784848" y="3675888"/>
            <a:ext cx="21488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 – $99.99 | Mean $50.35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4242816"/>
            <a:ext cx="8412480" cy="548640"/>
          </a:xfrm>
          <a:prstGeom prst="rect">
            <a:avLst/>
          </a:prstGeom>
          <a:solidFill>
            <a:srgbClr val="FEF3C7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251960"/>
            <a:ext cx="82296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 FINDING: 9,526 dari 10,000 kartu kredit (95.3%) sudah EXPIRED per Maret 2026 → Menjadi dasar utama fraud detection rules dalam pipeline ini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F3884-8E5D-7A31-872D-9C50A10B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03EB02-B1D6-A67C-156F-4A9BEAFA4517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C249D7-0135-CBEA-40C4-A28D1E14856B}"/>
              </a:ext>
            </a:extLst>
          </p:cNvPr>
          <p:cNvSpPr/>
          <p:nvPr/>
        </p:nvSpPr>
        <p:spPr>
          <a:xfrm>
            <a:off x="586409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&amp; Schema Design — 5-Layer Database Architecture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02C5CF-5B6A-DDCC-F00E-E80B06FF755D}"/>
              </a:ext>
            </a:extLst>
          </p:cNvPr>
          <p:cNvSpPr/>
          <p:nvPr/>
        </p:nvSpPr>
        <p:spPr>
          <a:xfrm>
            <a:off x="274320" y="640080"/>
            <a:ext cx="192024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4F8593E-3E23-5277-7EFB-448D37913693}"/>
              </a:ext>
            </a:extLst>
          </p:cNvPr>
          <p:cNvSpPr/>
          <p:nvPr/>
        </p:nvSpPr>
        <p:spPr>
          <a:xfrm>
            <a:off x="274320" y="640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FD734D0-B389-4CCB-ED6F-BCB1493CA16A}"/>
              </a:ext>
            </a:extLst>
          </p:cNvPr>
          <p:cNvSpPr/>
          <p:nvPr/>
        </p:nvSpPr>
        <p:spPr>
          <a:xfrm>
            <a:off x="274320" y="91440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015DE1C-0142-76ED-3C45-E99EC81F9912}"/>
              </a:ext>
            </a:extLst>
          </p:cNvPr>
          <p:cNvSpPr/>
          <p:nvPr/>
        </p:nvSpPr>
        <p:spPr>
          <a:xfrm>
            <a:off x="320040" y="950976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ecommerce_purchases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 PK, email, credit_card,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cc_provider, purchase_price,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ingested_at, batch_id)</a:t>
            </a:r>
            <a:endParaRPr lang="en-US" sz="8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2DB2015-B30D-1B67-406F-3FC476CE78B9}"/>
              </a:ext>
            </a:extLst>
          </p:cNvPr>
          <p:cNvSpPr/>
          <p:nvPr/>
        </p:nvSpPr>
        <p:spPr>
          <a:xfrm>
            <a:off x="274320" y="201168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88F0B35-89B4-A6E0-52F1-4037DB64F48B}"/>
              </a:ext>
            </a:extLst>
          </p:cNvPr>
          <p:cNvSpPr/>
          <p:nvPr/>
        </p:nvSpPr>
        <p:spPr>
          <a:xfrm>
            <a:off x="320040" y="2048256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kafka_purchase_events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 PK, event_id UK,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purchase_price,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kafka_offset, consumed_at)</a:t>
            </a:r>
            <a:endParaRPr lang="en-US" sz="8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6EE1FD3-052B-91F5-456E-FEC7EDF60BFD}"/>
              </a:ext>
            </a:extLst>
          </p:cNvPr>
          <p:cNvSpPr/>
          <p:nvPr/>
        </p:nvSpPr>
        <p:spPr>
          <a:xfrm>
            <a:off x="2331720" y="646772"/>
            <a:ext cx="1920240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FCCBF8A-9E41-9EF6-BD3C-69278AF35585}"/>
              </a:ext>
            </a:extLst>
          </p:cNvPr>
          <p:cNvSpPr/>
          <p:nvPr/>
        </p:nvSpPr>
        <p:spPr>
          <a:xfrm>
            <a:off x="2331720" y="640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6AD2359-EFDF-5783-EE03-B341F1A7E8E0}"/>
              </a:ext>
            </a:extLst>
          </p:cNvPr>
          <p:cNvSpPr/>
          <p:nvPr/>
        </p:nvSpPr>
        <p:spPr>
          <a:xfrm>
            <a:off x="2331720" y="9065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9884683-9627-187E-6D54-26305EFA012E}"/>
              </a:ext>
            </a:extLst>
          </p:cNvPr>
          <p:cNvSpPr/>
          <p:nvPr/>
        </p:nvSpPr>
        <p:spPr>
          <a:xfrm>
            <a:off x="2377440" y="950976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stg_purchases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(purchase_id PK, email FK,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cc_provider, price_tier,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is_cc_expired, browser_name)</a:t>
            </a:r>
            <a:endParaRPr lang="en-US" sz="8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9E987ED-FC51-6F57-2B1B-55FDDFA4EA86}"/>
              </a:ext>
            </a:extLst>
          </p:cNvPr>
          <p:cNvSpPr/>
          <p:nvPr/>
        </p:nvSpPr>
        <p:spPr>
          <a:xfrm>
            <a:off x="2331720" y="201168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D272C86-7A08-81D5-FAD4-EB737C2B4A2A}"/>
              </a:ext>
            </a:extLst>
          </p:cNvPr>
          <p:cNvSpPr/>
          <p:nvPr/>
        </p:nvSpPr>
        <p:spPr>
          <a:xfrm>
            <a:off x="2377440" y="2048256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int_customer_stats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 PK, total_txns,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total_spend, preferred_browser,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fraud_risk_score)</a:t>
            </a:r>
            <a:endParaRPr lang="en-US" sz="8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ECFA2FE-85F3-D90A-BF66-DB7D9CF4876D}"/>
              </a:ext>
            </a:extLst>
          </p:cNvPr>
          <p:cNvSpPr/>
          <p:nvPr/>
        </p:nvSpPr>
        <p:spPr>
          <a:xfrm>
            <a:off x="6687047" y="658368"/>
            <a:ext cx="19202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6A09461-9B31-442C-5D81-5A496122EAD2}"/>
              </a:ext>
            </a:extLst>
          </p:cNvPr>
          <p:cNvSpPr/>
          <p:nvPr/>
        </p:nvSpPr>
        <p:spPr>
          <a:xfrm>
            <a:off x="6687047" y="632261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9E69A4C-5C88-04DE-0C0B-12054E117B6A}"/>
              </a:ext>
            </a:extLst>
          </p:cNvPr>
          <p:cNvSpPr/>
          <p:nvPr/>
        </p:nvSpPr>
        <p:spPr>
          <a:xfrm>
            <a:off x="6687047" y="1999355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C058BEC-8189-3ABE-76A2-711B69413128}"/>
              </a:ext>
            </a:extLst>
          </p:cNvPr>
          <p:cNvSpPr/>
          <p:nvPr/>
        </p:nvSpPr>
        <p:spPr>
          <a:xfrm>
            <a:off x="6723623" y="2154008"/>
            <a:ext cx="182880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mart_sales_summary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(cc_provider PK, total_revenue,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revenue_share_pct)</a:t>
            </a:r>
            <a:endParaRPr lang="en-US" sz="8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9EFB6FA-3069-3916-9EED-D651959B1324}"/>
              </a:ext>
            </a:extLst>
          </p:cNvPr>
          <p:cNvSpPr/>
          <p:nvPr/>
        </p:nvSpPr>
        <p:spPr>
          <a:xfrm>
            <a:off x="6693408" y="2968521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D38D350-C2BC-C0FC-91C5-3A5A00CE2205}"/>
              </a:ext>
            </a:extLst>
          </p:cNvPr>
          <p:cNvSpPr/>
          <p:nvPr/>
        </p:nvSpPr>
        <p:spPr>
          <a:xfrm>
            <a:off x="6693408" y="3110353"/>
            <a:ext cx="182880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mart_customer_360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 PK, customer_segment,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spending_tier, fraud_risk_score)</a:t>
            </a:r>
            <a:endParaRPr lang="en-US" sz="8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AE19272-8CD8-42FD-668E-9E398C10F32F}"/>
              </a:ext>
            </a:extLst>
          </p:cNvPr>
          <p:cNvSpPr/>
          <p:nvPr/>
        </p:nvSpPr>
        <p:spPr>
          <a:xfrm>
            <a:off x="6693408" y="94044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CEEBA7A-A19C-6F12-5BA5-24EEE6F67E77}"/>
              </a:ext>
            </a:extLst>
          </p:cNvPr>
          <p:cNvSpPr/>
          <p:nvPr/>
        </p:nvSpPr>
        <p:spPr>
          <a:xfrm>
            <a:off x="6739128" y="1067661"/>
            <a:ext cx="182880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mart_fraud_signals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(purchase_id PK, email FK,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total_flags 0-4)</a:t>
            </a:r>
            <a:endParaRPr lang="en-US" sz="8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2CFAC3F-4B34-1F8B-D5AA-22B24ED8014E}"/>
              </a:ext>
            </a:extLst>
          </p:cNvPr>
          <p:cNvSpPr/>
          <p:nvPr/>
        </p:nvSpPr>
        <p:spPr>
          <a:xfrm>
            <a:off x="4480560" y="654392"/>
            <a:ext cx="192024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EE31726-F2EB-9E70-4CF4-43D13241B2CE}"/>
              </a:ext>
            </a:extLst>
          </p:cNvPr>
          <p:cNvSpPr/>
          <p:nvPr/>
        </p:nvSpPr>
        <p:spPr>
          <a:xfrm>
            <a:off x="4389120" y="6289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F9789AE-C55C-11F3-28E3-7694DDC4DE71}"/>
              </a:ext>
            </a:extLst>
          </p:cNvPr>
          <p:cNvSpPr/>
          <p:nvPr/>
        </p:nvSpPr>
        <p:spPr>
          <a:xfrm>
            <a:off x="4480560" y="91440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1CFEAB7-47CB-7E8A-BF0B-7FCC3662BFAC}"/>
              </a:ext>
            </a:extLst>
          </p:cNvPr>
          <p:cNvSpPr/>
          <p:nvPr/>
        </p:nvSpPr>
        <p:spPr>
          <a:xfrm>
            <a:off x="4535424" y="969264"/>
            <a:ext cx="182880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(transaction_id PK,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FK, date_key FK,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is_fraud_flagged)</a:t>
            </a:r>
            <a:endParaRPr lang="en-US" sz="8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A9E74AA-833C-1DE7-65AF-4F892FC703F1}"/>
              </a:ext>
            </a:extLst>
          </p:cNvPr>
          <p:cNvSpPr/>
          <p:nvPr/>
        </p:nvSpPr>
        <p:spPr>
          <a:xfrm>
            <a:off x="4443984" y="2001344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2D47A7A-FA07-FB8D-5C05-3F227449AACB}"/>
              </a:ext>
            </a:extLst>
          </p:cNvPr>
          <p:cNvSpPr/>
          <p:nvPr/>
        </p:nvSpPr>
        <p:spPr>
          <a:xfrm>
            <a:off x="4572000" y="2087217"/>
            <a:ext cx="182880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dim_customer_scd2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(customer_key PK,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NK, is_current,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effective_date, version)</a:t>
            </a:r>
            <a:endParaRPr lang="en-US" sz="8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0B8D711-69E1-85C8-303F-93126DB36A9A}"/>
              </a:ext>
            </a:extLst>
          </p:cNvPr>
          <p:cNvSpPr/>
          <p:nvPr/>
        </p:nvSpPr>
        <p:spPr>
          <a:xfrm>
            <a:off x="4443984" y="2969016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08F65F6-C385-339B-421D-CFD1A8261AF6}"/>
              </a:ext>
            </a:extLst>
          </p:cNvPr>
          <p:cNvSpPr/>
          <p:nvPr/>
        </p:nvSpPr>
        <p:spPr>
          <a:xfrm>
            <a:off x="4480560" y="3085902"/>
            <a:ext cx="182880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dim_payment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(payment_key PK,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credit_card_number NK,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is_expired, is_cvv_abnormal)</a:t>
            </a:r>
            <a:endParaRPr lang="en-US" sz="8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C7C0BE8-0278-78A4-0385-0348B2631AD9}"/>
              </a:ext>
            </a:extLst>
          </p:cNvPr>
          <p:cNvSpPr/>
          <p:nvPr/>
        </p:nvSpPr>
        <p:spPr>
          <a:xfrm>
            <a:off x="274320" y="2919520"/>
            <a:ext cx="192024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16529B4-191D-16D9-BC4B-595B46475A61}"/>
              </a:ext>
            </a:extLst>
          </p:cNvPr>
          <p:cNvSpPr/>
          <p:nvPr/>
        </p:nvSpPr>
        <p:spPr>
          <a:xfrm>
            <a:off x="274320" y="2919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6E605AA-BC5D-E687-AD39-144A43FDCDD1}"/>
              </a:ext>
            </a:extLst>
          </p:cNvPr>
          <p:cNvSpPr/>
          <p:nvPr/>
        </p:nvSpPr>
        <p:spPr>
          <a:xfrm>
            <a:off x="274320" y="319384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866FB0C-14C4-79CE-20AF-B6C60D561C00}"/>
              </a:ext>
            </a:extLst>
          </p:cNvPr>
          <p:cNvSpPr/>
          <p:nvPr/>
        </p:nvSpPr>
        <p:spPr>
          <a:xfrm>
            <a:off x="320040" y="3230416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pipeline_runs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(run_id UK, dag_id,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records_written,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duration_secs)</a:t>
            </a:r>
            <a:endParaRPr lang="en-US" sz="8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9EC6510-270C-D6AD-46E4-1030F816D17E}"/>
              </a:ext>
            </a:extLst>
          </p:cNvPr>
          <p:cNvSpPr/>
          <p:nvPr/>
        </p:nvSpPr>
        <p:spPr>
          <a:xfrm>
            <a:off x="274320" y="4101084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CF2B86E-028A-69F1-BD41-0847F2222903}"/>
              </a:ext>
            </a:extLst>
          </p:cNvPr>
          <p:cNvSpPr/>
          <p:nvPr/>
        </p:nvSpPr>
        <p:spPr>
          <a:xfrm>
            <a:off x="329979" y="4213396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dq_results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 PK, run_id FK,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check_name, status,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fail_count)</a:t>
            </a:r>
            <a:endParaRPr lang="en-US" sz="8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940ED72-A61B-E8B3-152A-AD598DF0E88C}"/>
              </a:ext>
            </a:extLst>
          </p:cNvPr>
          <p:cNvSpPr/>
          <p:nvPr/>
        </p:nvSpPr>
        <p:spPr>
          <a:xfrm>
            <a:off x="2194560" y="1371600"/>
            <a:ext cx="1371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arrow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1F51DC7C-4C3D-AE2C-A404-03E23DA422AE}"/>
              </a:ext>
            </a:extLst>
          </p:cNvPr>
          <p:cNvSpPr/>
          <p:nvPr/>
        </p:nvSpPr>
        <p:spPr>
          <a:xfrm>
            <a:off x="4251960" y="1371600"/>
            <a:ext cx="2286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arrow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B0314B1-FED7-CE2C-76DC-4ABCBAD24D28}"/>
              </a:ext>
            </a:extLst>
          </p:cNvPr>
          <p:cNvSpPr/>
          <p:nvPr/>
        </p:nvSpPr>
        <p:spPr>
          <a:xfrm>
            <a:off x="6400800" y="1371600"/>
            <a:ext cx="29260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arrow"/>
          </a:ln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0DB5FF7-BD14-6FD0-DDE1-B34A20BC633B}"/>
              </a:ext>
            </a:extLst>
          </p:cNvPr>
          <p:cNvSpPr/>
          <p:nvPr/>
        </p:nvSpPr>
        <p:spPr>
          <a:xfrm>
            <a:off x="1397441" y="43891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Bronze (Raw)  </a:t>
            </a: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Silver (Staging)  </a:t>
            </a: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 Schema (DW)  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(Marts) |  Monitoring (Operational)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34305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20A26-A28F-E4D9-6145-E24117DBD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B7CC2C-34D6-2DE3-95D4-3749465C8ECF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A0B85B-52C7-AB66-399C-EC586F76DEF4}"/>
              </a:ext>
            </a:extLst>
          </p:cNvPr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&amp; Schema Design — 5-Layer Database Architecture</a:t>
            </a:r>
            <a:endParaRPr lang="en-US" sz="22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AC8B99A-7DC1-0B1B-753F-8516251F5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14238"/>
            <a:ext cx="8388626" cy="443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39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 Lineage — Staging → Intermediate → Marts → DW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01752" y="640080"/>
            <a:ext cx="155448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638423"/>
            <a:ext cx="15544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raw.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56232" y="914400"/>
            <a:ext cx="30175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2148840" y="658368"/>
            <a:ext cx="1645920" cy="1463040"/>
          </a:xfrm>
          <a:prstGeom prst="rect">
            <a:avLst/>
          </a:prstGeom>
          <a:solidFill>
            <a:srgbClr val="EFF6FF"/>
          </a:solidFill>
          <a:ln w="25400">
            <a:solidFill>
              <a:srgbClr val="1A6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658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658368"/>
            <a:ext cx="1645920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969264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978408"/>
            <a:ext cx="1408176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stg_purchases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| cleaned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40280" y="1490472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1499616"/>
            <a:ext cx="1408176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int_customer_stats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| per-customer agg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13048" y="920363"/>
            <a:ext cx="30175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114800" y="658368"/>
            <a:ext cx="1691640" cy="219456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658368"/>
            <a:ext cx="16916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658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978408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3672" y="987552"/>
            <a:ext cx="1463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mart_sales_summary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provider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06240" y="1572768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3672" y="1581912"/>
            <a:ext cx="1463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mart_customer_360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+ fraud score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06240" y="2167128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33672" y="2176272"/>
            <a:ext cx="1463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mart_fraud_signals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fraud flags per tx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24728" y="920363"/>
            <a:ext cx="30175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6126480" y="658368"/>
            <a:ext cx="1783080" cy="2834640"/>
          </a:xfrm>
          <a:prstGeom prst="rect">
            <a:avLst/>
          </a:prstGeom>
          <a:solidFill>
            <a:srgbClr val="FAF5FF"/>
          </a:solidFill>
          <a:ln w="254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658368"/>
            <a:ext cx="178308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6583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(SCD2)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978408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987552"/>
            <a:ext cx="155448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dim_customer_scd2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1591056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1600200"/>
            <a:ext cx="155448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dim_payment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17920" y="2203704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5352" y="2212848"/>
            <a:ext cx="155448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dim_browser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2816352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2825496"/>
            <a:ext cx="155448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center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977640"/>
            <a:ext cx="19202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74320" y="4023360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Models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274320" y="4443984"/>
            <a:ext cx="19202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run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3977640"/>
            <a:ext cx="1920240" cy="777240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468880" y="4023360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Tests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2468880" y="4443984"/>
            <a:ext cx="19202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3977640"/>
            <a:ext cx="192024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63440" y="4023360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Layers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4663440" y="4443984"/>
            <a:ext cx="19202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Bronze→Gold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58000" y="3977640"/>
            <a:ext cx="1920240" cy="7772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858000" y="4023360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6858000" y="4443984"/>
            <a:ext cx="19202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 changes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— Slowly Changing Dimension (dim_customer)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56032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256032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Kolom: customer_id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2377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pernah berubah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640080"/>
            <a:ext cx="256032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640080"/>
            <a:ext cx="2560320" cy="320040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640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Kolom: job_title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company_name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481328"/>
            <a:ext cx="2377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Timpa langsung,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histori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640080"/>
            <a:ext cx="256032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640080"/>
            <a:ext cx="2560320" cy="320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640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Kolom: customer_segment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spending_tier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fraud_risk_score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1481328"/>
            <a:ext cx="2377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baris BARU,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semua versi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2860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Data — Customer john@email.com berubah segmen dari waktu ke waktu: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542032"/>
            <a:ext cx="8595360" cy="274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542032"/>
            <a:ext cx="731520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customer_key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24128" y="2542032"/>
            <a:ext cx="1234440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58568" y="2542032"/>
            <a:ext cx="777240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35808" y="2542032"/>
            <a:ext cx="640080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75888" y="2542032"/>
            <a:ext cx="777240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fraud_score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53128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effective_date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67528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expiry_date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81928" y="2542032"/>
            <a:ext cx="749808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is_current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31736" y="2542032"/>
            <a:ext cx="320040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solidFill>
            <a:srgbClr val="FEE2E2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2843784"/>
            <a:ext cx="73152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4128" y="2843784"/>
            <a:ext cx="123444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john@email.com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258568" y="2843784"/>
            <a:ext cx="77724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035808" y="2843784"/>
            <a:ext cx="64008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75888" y="2843784"/>
            <a:ext cx="77724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453128" y="2843784"/>
            <a:ext cx="91440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367528" y="2843784"/>
            <a:ext cx="91440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2024-03-15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81928" y="2843784"/>
            <a:ext cx="74980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31736" y="2843784"/>
            <a:ext cx="32004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3172968"/>
            <a:ext cx="8595360" cy="320040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" y="3182112"/>
            <a:ext cx="73152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24128" y="3182112"/>
            <a:ext cx="123444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john@email.com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258568" y="3182112"/>
            <a:ext cx="77724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035808" y="3182112"/>
            <a:ext cx="64008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75888" y="3182112"/>
            <a:ext cx="77724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453128" y="3182112"/>
            <a:ext cx="91440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2024-03-15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367528" y="3182112"/>
            <a:ext cx="91440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2024-08-20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81928" y="3182112"/>
            <a:ext cx="74980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031736" y="3182112"/>
            <a:ext cx="32004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3511296"/>
            <a:ext cx="8595360" cy="320040"/>
          </a:xfrm>
          <a:prstGeom prst="rect">
            <a:avLst/>
          </a:prstGeom>
          <a:solidFill>
            <a:srgbClr val="D1FAE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" y="3520440"/>
            <a:ext cx="73152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024128" y="3520440"/>
            <a:ext cx="123444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john@email.com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258568" y="3520440"/>
            <a:ext cx="77724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035808" y="3520440"/>
            <a:ext cx="64008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75888" y="3520440"/>
            <a:ext cx="77724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453128" y="3520440"/>
            <a:ext cx="91440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2024-08-20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367528" y="3520440"/>
            <a:ext cx="91440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281928" y="3520440"/>
            <a:ext cx="749808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✓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031736" y="3520440"/>
            <a:ext cx="320040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4320" y="4498848"/>
            <a:ext cx="8595360" cy="411480"/>
          </a:xfrm>
          <a:prstGeom prst="rect">
            <a:avLst/>
          </a:prstGeom>
          <a:solidFill>
            <a:srgbClr val="EDE9FE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517136"/>
            <a:ext cx="841248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Kunci SCD2: fact_transactions.customer_key → menunjuk versi customer SAAT TRANSAKSI TERJADI, bukan versi sekarang → analisis historis akurat!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Insight Bisnis dari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206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4206240" cy="292608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58368"/>
            <a:ext cx="4133088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Revenue Analytics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" y="996696"/>
            <a:ext cx="4023360" cy="1508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VISA 16 digit: revenue tertinggi $85,529 (17.0% market share)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JCB 16 digit: transaksi terbanyak 1,716 transaksi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revenue: $503,473 dari 10,000 transaksi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Order Value: $50.35 per transaksi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658368"/>
            <a:ext cx="4206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658368"/>
            <a:ext cx="42062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658368"/>
            <a:ext cx="4133088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 Segmentation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18888" y="996696"/>
            <a:ext cx="4023360" cy="1508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One-time buyer: 9,908 (99.5%) — mayoritas belanja 1x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Occasional: 46 pelanggan (2-3 transaksi)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 VIP &amp; Regular: 0 dari dataset ini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customers: 9,954 dari 10,000 transaksi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4206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670048"/>
            <a:ext cx="420624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70048"/>
            <a:ext cx="4133088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Fraud Detection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" y="3008376"/>
            <a:ext cx="4023360" cy="1508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9,526 transaksi (95.3%) dengan CC expired → flag_expired_cc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1,689 transaksi (16.9%) dengan CVV abnormal → flag_abnormal_cvv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~2,564 transaksi high value (&gt;$75) → flag_high_value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Multi-flag detection: total_flags 0-4 per transaksi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670048"/>
            <a:ext cx="4206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670048"/>
            <a:ext cx="420624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70048"/>
            <a:ext cx="4133088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Behavioral Analytics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18888" y="3008376"/>
            <a:ext cx="4023360" cy="1508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Browser: Mozilla 79.2% vs Opera 20.8%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Transaksi AM: 4,932 (49.3%) | PM: 5,068 (50.7%)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 bahasa transaksi: terbanyak de &amp; ru (masing-masing 1,155)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623 profesi unik dari 10,000 pelanggan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571999"/>
            <a:ext cx="8641080" cy="476681"/>
          </a:xfrm>
          <a:prstGeom prst="rect">
            <a:avLst/>
          </a:prstGeom>
          <a:solidFill>
            <a:srgbClr val="E0F2F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395" y="4664633"/>
            <a:ext cx="841248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Pipeline Metrics:  Ingest 10K rows = 8.16s  |  dbt run 9 models = ~14s  |  dbt test 87/87 passed  |  Airflow DAG = ~7 menit  |  Grafana load &lt; 2s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0889FB-9F5A-8FC2-24C3-0871CC0C0F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92"/>
          <a:stretch>
            <a:fillRect/>
          </a:stretch>
        </p:blipFill>
        <p:spPr>
          <a:xfrm>
            <a:off x="0" y="1255"/>
            <a:ext cx="9144000" cy="51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016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092FA8-CD53-F50A-CFDE-7371CDFBC2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72"/>
          <a:stretch>
            <a:fillRect/>
          </a:stretch>
        </p:blipFill>
        <p:spPr>
          <a:xfrm>
            <a:off x="0" y="1254"/>
            <a:ext cx="9144000" cy="51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49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1E2778-CD76-1F24-10B8-9F28026CFF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92"/>
          <a:stretch>
            <a:fillRect/>
          </a:stretch>
        </p:blipFill>
        <p:spPr>
          <a:xfrm>
            <a:off x="0" y="1255"/>
            <a:ext cx="9144000" cy="51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346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13EAA-23BD-C31F-CAE1-7D253CC76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92"/>
          <a:stretch>
            <a:fillRect/>
          </a:stretch>
        </p:blipFill>
        <p:spPr>
          <a:xfrm>
            <a:off x="0" y="1255"/>
            <a:ext cx="9144000" cy="51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475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38B7E1-8DEB-6D76-0ACD-0F1136AE37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86"/>
          <a:stretch>
            <a:fillRect/>
          </a:stretch>
        </p:blipFill>
        <p:spPr>
          <a:xfrm>
            <a:off x="0" y="1254"/>
            <a:ext cx="9144000" cy="51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89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E7C293-FF6E-11AC-6681-F44D6FF0B1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86"/>
          <a:stretch>
            <a:fillRect/>
          </a:stretch>
        </p:blipFill>
        <p:spPr>
          <a:xfrm>
            <a:off x="0" y="1254"/>
            <a:ext cx="9144000" cy="51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41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E71E3C-B1D6-4927-E846-FD96BFA235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90" b="6451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39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12D6C4-BD90-D711-2DC4-CAD83DF13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76" b="548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23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EB5F32-4C03-115A-9768-33E611EAA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82" b="645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26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156C0-17C4-A113-B369-CCD206F7E9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92"/>
          <a:stretch>
            <a:fillRect/>
          </a:stretch>
        </p:blipFill>
        <p:spPr>
          <a:xfrm>
            <a:off x="0" y="1255"/>
            <a:ext cx="9144000" cy="51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502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2818C9-15EB-7F89-FE5E-998AC83FD3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99"/>
          <a:stretch>
            <a:fillRect/>
          </a:stretch>
        </p:blipFill>
        <p:spPr>
          <a:xfrm>
            <a:off x="0" y="1254"/>
            <a:ext cx="9144000" cy="51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23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EFA3AB-2ED4-9ADD-C46F-635E0B77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86"/>
          <a:stretch>
            <a:fillRect/>
          </a:stretch>
        </p:blipFill>
        <p:spPr>
          <a:xfrm>
            <a:off x="0" y="1254"/>
            <a:ext cx="9144000" cy="51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97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5E9895-A9B0-A3EB-C602-504717E2B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99"/>
          <a:stretch>
            <a:fillRect/>
          </a:stretch>
        </p:blipFill>
        <p:spPr>
          <a:xfrm>
            <a:off x="0" y="1254"/>
            <a:ext cx="9144000" cy="51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36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8CFA2F-FEFA-DBE6-E0C1-196B26F018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86"/>
          <a:stretch>
            <a:fillRect/>
          </a:stretch>
        </p:blipFill>
        <p:spPr>
          <a:xfrm>
            <a:off x="0" y="1254"/>
            <a:ext cx="9144000" cy="51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50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E90E05-FB3B-A66F-56B8-D44F6D4E41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95" b="529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64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1A9CFF-8D6E-DDC3-F747-D22862C42D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69" b="5679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26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8F81DC-7C6A-C961-9819-B226B39D86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82" b="548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301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EEE507-68BC-0F3C-98FA-E18475F926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38" b="5470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0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2B331F-30C3-CCB7-5230-2A349F5B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11" b="5445"/>
          <a:stretch>
            <a:fillRect/>
          </a:stretch>
        </p:blipFill>
        <p:spPr>
          <a:xfrm>
            <a:off x="0" y="217713"/>
            <a:ext cx="9144000" cy="464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729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DE2E6C-BCA5-6853-D1BA-D5B1C23BDB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57" b="4880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5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</TotalTime>
  <Words>1289</Words>
  <Application>Microsoft Office PowerPoint</Application>
  <PresentationFormat>On-screen Show (16:9)</PresentationFormat>
  <Paragraphs>285</Paragraphs>
  <Slides>30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Analytics Pipeline - Final Project</dc:title>
  <dc:subject>PptxGenJS Presentation</dc:subject>
  <dc:creator>PptxGenJS</dc:creator>
  <cp:lastModifiedBy>Ary Kurniawan</cp:lastModifiedBy>
  <cp:revision>62</cp:revision>
  <dcterms:created xsi:type="dcterms:W3CDTF">2026-03-16T08:18:57Z</dcterms:created>
  <dcterms:modified xsi:type="dcterms:W3CDTF">2026-04-07T06:56:10Z</dcterms:modified>
</cp:coreProperties>
</file>